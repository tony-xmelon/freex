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t>Stock: rising, falling, unchanged</a:t>
            </a:r>
          </a:p>
        </c:rich>
      </c:tx>
      <c:overlay val="0"/>
    </c:title>
    <c:autoTitleDeleted val="0"/>
    <c:plotArea>
      <c:layout/>
      <c:stockChart>
        <c:ser>
          <c:idx val="0"/>
          <c:order val="0"/>
          <c:tx>
            <c:strRef>
              <c:f>ChartData!$B$1</c:f>
              <c:strCache>
                <c:ptCount val="1"/>
                <c:pt idx="0">
                  <c:v>Open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10</c:v>
                </c:pt>
                <c:pt idx="1">
                  <c:v>14</c:v>
                </c:pt>
                <c:pt idx="2">
                  <c:v>12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021-4DFA-9557-18BFECBB2C5F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High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15</c:v>
                </c:pt>
                <c:pt idx="1">
                  <c:v>16</c:v>
                </c:pt>
                <c:pt idx="2">
                  <c:v>14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021-4DFA-9557-18BFECBB2C5F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Low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8</c:v>
                </c:pt>
                <c:pt idx="1">
                  <c:v>11</c:v>
                </c:pt>
                <c:pt idx="2">
                  <c:v>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7021-4DFA-9557-18BFECBB2C5F}"/>
            </c:ext>
          </c:extLst>
        </c:ser>
        <c:ser>
          <c:idx val="3"/>
          <c:order val="3"/>
          <c:tx>
            <c:strRef>
              <c:f>ChartData!$E$1</c:f>
              <c:strCache>
                <c:ptCount val="1"/>
                <c:pt idx="0">
                  <c:v>Close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</c:strCache>
            </c:strRef>
          </c:cat>
          <c:val>
            <c:numRef>
              <c:f>ChartData!$E$2:$E$4</c:f>
              <c:numCache>
                <c:formatCode>General</c:formatCode>
                <c:ptCount val="3"/>
                <c:pt idx="0">
                  <c:v>14</c:v>
                </c:pt>
                <c:pt idx="1">
                  <c:v>12</c:v>
                </c:pt>
                <c:pt idx="2">
                  <c:v>12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7021-4DFA-9557-18BFECBB2C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"/>
        <c:axId val="2"/>
      </c:stockChart>
      <c:catAx>
        <c:axId val="1"/>
        <c:scaling>
          <c:orientation val="minMax"/>
        </c:scaling>
        <c:delete val="0"/>
        <c:axPos val="b"/>
        <c:majorGridlines/>
        <c:numFmt formatCode="General" sourceLinked="0"/>
        <c:majorTickMark val="cross"/>
        <c:minorTickMark val="cross"/>
        <c:tickLblPos val="nextTo"/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cross"/>
        <c:tickLblPos val="nextTo"/>
        <c:crossAx val="1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t>Surface: blank cell grid retention</a:t>
            </a:r>
          </a:p>
        </c:rich>
      </c:tx>
      <c:overlay val="0"/>
    </c:title>
    <c:autoTitleDeleted val="0"/>
    <c:view3D>
      <c:rotX val="25"/>
      <c:rotY val="35"/>
      <c:depthPercent val="125"/>
      <c:rAngAx val="0"/>
      <c:perspective val="54"/>
    </c:view3D>
    <c:floor>
      <c:thickness val="0"/>
    </c:floor>
    <c:sideWall>
      <c:thickness val="0"/>
    </c:sideWall>
    <c:backWall>
      <c:thickness val="0"/>
    </c:backWall>
    <c:plotArea>
      <c:layout/>
      <c:surface3DChart>
        <c:wireframe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Low band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10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D0-409E-8084-21B3AF79A05E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Mid band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18</c:v>
                </c:pt>
                <c:pt idx="1">
                  <c:v>22</c:v>
                </c:pt>
                <c:pt idx="2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D0-409E-8084-21B3AF79A05E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High band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28</c:v>
                </c:pt>
                <c:pt idx="1">
                  <c:v>24</c:v>
                </c:pt>
                <c:pt idx="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D0-409E-8084-21B3AF79A05E}"/>
            </c:ext>
          </c:extLst>
        </c:ser>
        <c:bandFmts/>
        <c:axId val="1"/>
        <c:axId val="2"/>
        <c:axId val="5"/>
      </c:surface3DChart>
      <c:catAx>
        <c:axId val="1"/>
        <c:scaling>
          <c:orientation val="minMax"/>
        </c:scaling>
        <c:delete val="0"/>
        <c:axPos val="b"/>
        <c:majorGridlines/>
        <c:numFmt formatCode="General" sourceLinked="0"/>
        <c:majorTickMark val="cross"/>
        <c:minorTickMark val="cross"/>
        <c:tickLblPos val="nextTo"/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cross"/>
        <c:tickLblPos val="nextTo"/>
        <c:crossAx val="1"/>
        <c:crosses val="autoZero"/>
        <c:crossBetween val="midCat"/>
      </c:valAx>
      <c:serAx>
        <c:axId val="5"/>
        <c:scaling>
          <c:orientation val="minMax"/>
        </c:scaling>
        <c:delete val="0"/>
        <c:axPos val="b"/>
        <c:majorTickMark val="none"/>
        <c:minorTickMark val="none"/>
        <c:tickLblPos val="nextTo"/>
        <c:crossAx val="2"/>
        <c:crosses val="autoZero"/>
      </c:serAx>
    </c:plotArea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t>Scatter: smooth and straight series</a:t>
            </a:r>
          </a:p>
        </c:rich>
      </c:tx>
      <c:overlay val="0"/>
    </c:title>
    <c:autoTitleDeleted val="0"/>
    <c:plotArea>
      <c:layout/>
      <c:scatterChart>
        <c:scatterStyle val="smoothMarker"/>
        <c:varyColors val="1"/>
        <c:ser>
          <c:idx val="0"/>
          <c:order val="0"/>
          <c:tx>
            <c:strRef>
              <c:f>ChartData!$B$1</c:f>
              <c:strCache>
                <c:ptCount val="1"/>
                <c:pt idx="0">
                  <c:v>Smoothed</c:v>
                </c:pt>
              </c:strCache>
            </c:strRef>
          </c:tx>
          <c:xVal>
            <c:numRef>
              <c:f>ChartData!$A$2:$A$5</c:f>
              <c:numCache>
                <c:formatCode>General</c:formatCode>
                <c:ptCount val="4"/>
                <c:pt idx="0">
                  <c:v>0</c:v>
                </c:pt>
                <c:pt idx="1">
                  <c:v>30</c:v>
                </c:pt>
                <c:pt idx="2">
                  <c:v>70</c:v>
                </c:pt>
                <c:pt idx="3">
                  <c:v>100</c:v>
                </c:pt>
              </c:numCache>
            </c:numRef>
          </c:xVal>
          <c:yVal>
            <c:numRef>
              <c:f>ChartData!$B$2:$B$5</c:f>
              <c:numCache>
                <c:formatCode>General</c:formatCode>
                <c:ptCount val="4"/>
                <c:pt idx="0">
                  <c:v>12</c:v>
                </c:pt>
                <c:pt idx="1">
                  <c:v>32</c:v>
                </c:pt>
                <c:pt idx="2">
                  <c:v>22</c:v>
                </c:pt>
                <c:pt idx="3">
                  <c:v>44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13E-4E4A-89F8-B65AFBC6A5DC}"/>
            </c:ext>
          </c:extLst>
        </c:ser>
        <c:ser>
          <c:idx val="1"/>
          <c:order val="1"/>
          <c:tx>
            <c:strRef>
              <c:f>ChartData!$D$1</c:f>
              <c:strCache>
                <c:ptCount val="1"/>
                <c:pt idx="0">
                  <c:v>Straight override</c:v>
                </c:pt>
              </c:strCache>
            </c:strRef>
          </c:tx>
          <c:xVal>
            <c:numRef>
              <c:f>ChartData!$C$2:$C$5</c:f>
              <c:numCache>
                <c:formatCode>General</c:formatCode>
                <c:ptCount val="4"/>
                <c:pt idx="0">
                  <c:v>0</c:v>
                </c:pt>
                <c:pt idx="1">
                  <c:v>30</c:v>
                </c:pt>
                <c:pt idx="2">
                  <c:v>70</c:v>
                </c:pt>
                <c:pt idx="3">
                  <c:v>100</c:v>
                </c:pt>
              </c:numCache>
            </c:numRef>
          </c:xVal>
          <c:yVal>
            <c:numRef>
              <c:f>ChartData!$D$2:$D$5</c:f>
              <c:numCache>
                <c:formatCode>General</c:formatCode>
                <c:ptCount val="4"/>
                <c:pt idx="0">
                  <c:v>18</c:v>
                </c:pt>
                <c:pt idx="1">
                  <c:v>16</c:v>
                </c:pt>
                <c:pt idx="2">
                  <c:v>34</c:v>
                </c:pt>
                <c:pt idx="3">
                  <c:v>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13E-4E4A-89F8-B65AFBC6A5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numFmt formatCode="General" sourceLinked="1"/>
        <c:majorTickMark val="cross"/>
        <c:minorTickMark val="cross"/>
        <c:tickLblPos val="nextTo"/>
        <c:crossAx val="2"/>
        <c:crosses val="autoZero"/>
        <c:crossBetween val="midCat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cross"/>
        <c:tickLblPos val="nextTo"/>
        <c:crossAx val="1"/>
        <c:crosses val="autoZero"/>
        <c:crossBetween val="midCat"/>
      </c:valAx>
    </c:plotArea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t>100% stacked: normalized bands</a:t>
            </a:r>
          </a:p>
        </c:rich>
      </c:tx>
      <c:overlay val="0"/>
    </c:title>
    <c:autoTitleDeleted val="0"/>
    <c:plotArea>
      <c:layout/>
      <c:barChart>
        <c:barDir val="col"/>
        <c:grouping val="percentStacked"/>
        <c:varyColors val="1"/>
        <c:ser>
          <c:idx val="0"/>
          <c:order val="0"/>
          <c:tx>
            <c:strRef>
              <c:f>ChartData!$B$1</c:f>
              <c:strCache>
                <c:ptCount val="1"/>
                <c:pt idx="0">
                  <c:v>Actual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dLblPos val="ctr"/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20</c:v>
                </c:pt>
                <c:pt idx="1">
                  <c:v>30</c:v>
                </c:pt>
                <c:pt idx="2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8B-4FFF-9BAA-EB9E097D80AD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Forecast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dLblPos val="ctr"/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30</c:v>
                </c:pt>
                <c:pt idx="1">
                  <c:v>20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8B-4FFF-9BAA-EB9E097D80AD}"/>
            </c:ext>
          </c:extLst>
        </c:ser>
        <c:dLbls>
          <c:dLblPos val="ctr"/>
          <c:showLegendKey val="1"/>
          <c:showVal val="1"/>
          <c:showCatName val="1"/>
          <c:showSerName val="1"/>
          <c:showPercent val="1"/>
          <c:showBubbleSize val="1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/>
        <c:numFmt formatCode="General" sourceLinked="0"/>
        <c:majorTickMark val="cross"/>
        <c:minorTickMark val="cross"/>
        <c:tickLblPos val="nextTo"/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majorGridlines/>
        <c:numFmt formatCode="0%" sourceLinked="1"/>
        <c:majorTickMark val="cross"/>
        <c:minorTickMark val="cross"/>
        <c:tickLblPos val="nextTo"/>
        <c:crossAx val="1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tock baseline"/>
          <p:cNvGraphicFramePr>
            <a:graphicFrameLocks noGrp="1"/>
          </p:cNvGraphicFramePr>
          <p:nvPr/>
        </p:nvGraphicFramePr>
        <p:xfrm>
          <a:off x="457200" y="4572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Surface baseline"/>
          <p:cNvGraphicFramePr>
            <a:graphicFrameLocks noGrp="1"/>
          </p:cNvGraphicFramePr>
          <p:nvPr/>
        </p:nvGraphicFramePr>
        <p:xfrm>
          <a:off x="5257800" y="4572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Smooth scatter baseline"/>
          <p:cNvGraphicFramePr>
            <a:graphicFrameLocks noGrp="1"/>
          </p:cNvGraphicFramePr>
          <p:nvPr/>
        </p:nvGraphicFramePr>
        <p:xfrm>
          <a:off x="457200" y="34290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Stacked 100 baseline"/>
          <p:cNvGraphicFramePr>
            <a:graphicFrameLocks noGrp="1"/>
          </p:cNvGraphicFramePr>
          <p:nvPr/>
        </p:nvGraphicFramePr>
        <p:xfrm>
          <a:off x="5257800" y="34290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ALI The Band</cp:lastModifiedBy>
  <cp:revision>1</cp:revision>
  <dcterms:modified xsi:type="dcterms:W3CDTF">2026-07-20T12:20:44Z</dcterms:modified>
</cp:coreProperties>
</file>