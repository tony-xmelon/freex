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Sales</c:v>
          </c:tx>
          <c:invertIfNegative val="0"/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120</c:v>
              </c:pt>
              <c:pt idx="1">
                <c:v>200</c:v>
              </c:pt>
              <c:pt idx="2">
                <c:v>150</c:v>
              </c:pt>
              <c:pt idx="3">
                <c:v>180</c:v>
              </c:pt>
            </c:numLit>
          </c:val>
          <c:extLst>
            <c:ext xmlns:c16="http://schemas.microsoft.com/office/drawing/2014/chart" uri="{C3380CC4-5D6E-409C-BE32-E72D297353CC}">
              <c16:uniqueId val="{00000003-F4C9-4E4B-AD5E-850984BBD899}"/>
            </c:ext>
          </c:extLst>
        </c:ser>
        <c:ser>
          <c:idx val="1"/>
          <c:order val="1"/>
          <c:tx>
            <c:v>Budget</c:v>
          </c:tx>
          <c:invertIfNegative val="0"/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130</c:v>
              </c:pt>
              <c:pt idx="1">
                <c:v>170</c:v>
              </c:pt>
              <c:pt idx="2">
                <c:v>160</c:v>
              </c:pt>
              <c:pt idx="3">
                <c:v>190</c:v>
              </c:pt>
            </c:numLit>
          </c:val>
          <c:extLst>
            <c:ext xmlns:c16="http://schemas.microsoft.com/office/drawing/2014/chart" uri="{C3380CC4-5D6E-409C-BE32-E72D297353CC}">
              <c16:uniqueId val="{00000004-F4C9-4E4B-AD5E-850984BBD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85484495"/>
        <c:axId val="1085484015"/>
      </c:barChart>
      <c:catAx>
        <c:axId val="10854844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85484015"/>
        <c:crosses val="autoZero"/>
        <c:auto val="1"/>
        <c:lblAlgn val="ctr"/>
        <c:lblOffset val="100"/>
        <c:noMultiLvlLbl val="0"/>
      </c:catAx>
      <c:valAx>
        <c:axId val="1085484015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85484495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v>2023</c:v>
          </c:tx>
          <c:val>
            <c:numRef>
              <c:f/>
              <c:numCache>
                <c:formatCode>General</c:formatCode>
                <c:ptCount val="4"/>
                <c:pt idx="0">
                  <c:v>80</c:v>
                </c:pt>
                <c:pt idx="1">
                  <c:v>100</c:v>
                </c:pt>
                <c:pt idx="2">
                  <c:v>60</c:v>
                </c:pt>
                <c:pt idx="3">
                  <c:v>90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3-040F-4A30-89A5-2B335997B14E}"/>
            </c:ext>
          </c:extLst>
          <c:cat>
            <c:strLit>
              <c:ptCount val="4"/>
              <c:pt idx="0">
                <c:v>North</c:v>
              </c:pt>
              <c:pt idx="1">
                <c:v>South</c:v>
              </c:pt>
              <c:pt idx="2">
                <c:v>East</c:v>
              </c:pt>
              <c:pt idx="3">
                <c:v>West</c:v>
              </c:pt>
            </c:strLit>
          </c:cat>
        </c:ser>
        <c:ser>
          <c:idx val="1"/>
          <c:order val="1"/>
          <c:tx>
            <c:v>2024</c:v>
          </c:tx>
          <c:val>
            <c:numRef>
              <c:f/>
              <c:numCache>
                <c:formatCode>General</c:formatCode>
                <c:ptCount val="4"/>
                <c:pt idx="0">
                  <c:v>90</c:v>
                </c:pt>
                <c:pt idx="1">
                  <c:v>110</c:v>
                </c:pt>
                <c:pt idx="2">
                  <c:v>70</c:v>
                </c:pt>
                <c:pt idx="3">
                  <c:v>100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4-040F-4A30-89A5-2B335997B14E}"/>
            </c:ext>
          </c:extLst>
          <c:cat>
            <c:strLit>
              <c:ptCount val="4"/>
              <c:pt idx="0">
                <c:v>North</c:v>
              </c:pt>
              <c:pt idx="1">
                <c:v>South</c:v>
              </c:pt>
              <c:pt idx="2">
                <c:v>East</c:v>
              </c:pt>
              <c:pt idx="3">
                <c:v>West</c:v>
              </c:pt>
            </c:strLit>
          </c:ca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06335"/>
        <c:axId val="1190405375"/>
      </c:lineChart>
      <c:catAx>
        <c:axId val="11904063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190405375"/>
        <c:crosses val="autoZero"/>
        <c:auto val="1"/>
        <c:lblAlgn val="ctr"/>
        <c:lblOffset val="100"/>
        <c:noMultiLvlLbl val="0"/>
      </c:catAx>
      <c:valAx>
        <c:axId val="1190405375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90406335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v>Share</c:v>
          </c:tx>
          <c:val>
            <c:numRef>
              <c:f/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1-E9E2-4A28-94D9-0D61B6304324}"/>
            </c:ext>
          </c:extLst>
          <c:cat>
            <c:strLit>
              <c:ptCount val="4"/>
              <c:pt idx="0">
                <c:v>Alpha</c:v>
              </c:pt>
              <c:pt idx="1">
                <c:v>Beta</c:v>
              </c:pt>
              <c:pt idx="2">
                <c:v>Gamma</c:v>
              </c:pt>
              <c:pt idx="3">
                <c:v>Delta</c:v>
              </c:pt>
            </c:strLit>
          </c:ca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Revenue</c:v>
          </c:tx>
          <c:invertIfNegative val="0"/>
          <c:val>
            <c:numRef>
              <c:f/>
              <c:numCache>
                <c:formatCode>General</c:formatCode>
                <c:ptCount val="6"/>
                <c:pt idx="0">
                  <c:v>50</c:v>
                </c:pt>
                <c:pt idx="1">
                  <c:v>80</c:v>
                </c:pt>
                <c:pt idx="2">
                  <c:v>65</c:v>
                </c:pt>
                <c:pt idx="3">
                  <c:v>90</c:v>
                </c:pt>
                <c:pt idx="4">
                  <c:v>75</c:v>
                </c:pt>
                <c:pt idx="5">
                  <c:v>110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3-9219-4076-8711-BADC76017A1A}"/>
            </c:ext>
          </c:extLst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</c:ser>
        <c:ser>
          <c:idx val="1"/>
          <c:order val="1"/>
          <c:tx>
            <c:v>Forecast</c:v>
          </c:tx>
          <c:invertIfNegative val="0"/>
          <c:val>
            <c:numRef>
              <c:f/>
              <c:numCache>
                <c:formatCode>General</c:formatCode>
                <c:ptCount val="6"/>
                <c:pt idx="0">
                  <c:v>55</c:v>
                </c:pt>
                <c:pt idx="1">
                  <c:v>75</c:v>
                </c:pt>
                <c:pt idx="2">
                  <c:v>70</c:v>
                </c:pt>
                <c:pt idx="3">
                  <c:v>85</c:v>
                </c:pt>
                <c:pt idx="4">
                  <c:v>80</c:v>
                </c:pt>
                <c:pt idx="5">
                  <c:v>105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4-9219-4076-8711-BADC76017A1A}"/>
            </c:ext>
          </c:extLst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0606447"/>
        <c:axId val="1190607407"/>
      </c:barChart>
      <c:catAx>
        <c:axId val="119060644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90607407"/>
        <c:crosses val="autoZero"/>
        <c:auto val="1"/>
        <c:lblAlgn val="ctr"/>
        <c:lblOffset val="100"/>
        <c:noMultiLvlLbl val="0"/>
      </c:catAx>
      <c:valAx>
        <c:axId val="1190607407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190606447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E2C8-3D54-EA61-C530-821AC0CDA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84909-A619-26B0-25F2-A13D695C6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84D4-40D7-F7CF-3957-82373E94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7B96C-2A73-85CB-0829-E50EF581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ABC25-67A6-1D3F-0C02-893C28EA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1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CEA7-830D-E2AA-10B8-DD73F4F1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F323F-84E4-3499-A0A5-EA811421E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4B69-735A-103F-A490-4E2FE96D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74EF5-C499-0EA9-2716-6B71A931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1216C-A648-6B4F-F24F-D236E71F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2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271A-2802-E091-F110-F0A351D1F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5457C-6537-F063-CFF8-0CF228DA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75ADA-2D90-A4E5-5CD4-A8AB4EAB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AA6DD-4852-CBA5-AF6A-60B9F55B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3C54-3B91-2023-A7D8-36469A90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4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596A4-3DB1-6084-C8D3-429A6A3E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7AD73-F84F-E823-AE06-5E1AF9DA1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25516-B71E-07C9-B3F0-82E887E5F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B6790-253A-6F82-EB55-B2789BA1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BBFDB-D45C-2668-06C6-AF0DD242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46331-C58B-090C-F6BA-7B0291F3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8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64E9-1CCA-53CD-615D-6E3D2D65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06A4E-8B74-AE50-AE78-8F0C29EB5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F54D4-77A1-2C27-3512-217D3E499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3EB2A-A977-967F-E44C-54C1EC6D7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B293F-A941-13D8-6FD6-450AC8BFC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8D8D8-B6B7-20D5-5842-43D2D59F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41658-C456-4840-6B41-A7DAC307B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CB1F2-F686-344E-FE33-D036D2C54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25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046D-5060-3719-B508-B4BD5602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3F53C-CF71-3B89-9CB5-92ED9F9C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E59DB-4BB2-4D30-3379-4D6BD20E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EACE5-B14F-EA0E-8D90-6F3A4385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7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C3DD5-C25B-A496-03C9-4F430DD1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0E7AD-2037-8AA4-282C-ED195A49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AE367-F9D7-FE2A-0DE5-7BB49138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0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63F8-318A-A305-AE91-761AF1289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864DD-0972-05E4-7B96-68ECF24DD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E0272-0FB2-C039-E3CB-58501D1B5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2A0F5-7931-339A-A30D-49E32E34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BB886-7E48-3357-11F9-2B004DE9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22F11-05EB-7BA3-E62E-94C15FC9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9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64F9-E0D0-73F2-6238-390BFF6D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CFEFD-DD8E-DE82-E94E-D4A88ED5C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7F88E-D9C8-7062-E642-792A8AA11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DED4C-A786-9503-C68C-B335A708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D2DD9-E7AF-8A76-B954-B3504511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BE00A-3C5B-5598-BA44-367C84FC7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0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A866-0361-66A0-720E-BD71CB95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4E0B3-24C1-08ED-C7CE-30B00A876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1EA23-AF3F-561D-D650-CD3DCE05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A22C8-849D-3E4F-0DF0-15508FF7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9F851-EEF5-8449-7A4D-E28748C0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0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8EEDD-CD93-EE3D-3F37-9A444F69DC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EA34F-55DF-6BFC-0522-457F9B385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B194F-825B-9FDF-7C2D-17F563E7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B80E8-74B2-C84C-159D-81A53AFAC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40B98-F69F-C894-2B58-71C88A23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5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49FFB-0A95-80DC-4AAA-A4AD57D0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1CB4B-412F-21BD-73AA-B3BFE3F54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7694-DD51-376C-D4F9-528A68E11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82164-15D3-4208-9C09-8289ADF02C1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4846-BF9E-2985-32ED-1A43E6225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BE7CE-5503-BC6F-AFE0-64B5280F8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43C22-FA77-4F5D-9362-24F8D4FE4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9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FC676-1C69-CD8F-BA14-DE650AA46DEB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Clustered Column Chart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8813378-FD04-C167-0B39-4F9FD77B02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7625652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953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E4D387-B0FA-FD91-5C14-418E847E8998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Line with Markers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99D5F20-8DB0-B08A-AA24-B958C35AC4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609428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7173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B0624C-30DC-366D-BF9F-59FC5BF1BEB9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Pie Chart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F2F2774-1FC3-58AF-2AD3-B145664AEB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2646643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655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021049-F9A8-F284-3A2F-50DF656F11AC}"/>
              </a:ext>
            </a:extLst>
          </p:cNvPr>
          <p:cNvSpPr txBox="1"/>
          <p:nvPr/>
        </p:nvSpPr>
        <p:spPr>
          <a:xfrm>
            <a:off x="254000" y="127000"/>
            <a:ext cx="11684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Clustered Bar Chart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B068DE4-E06F-2587-50F0-0E5D614C01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22855"/>
              </p:ext>
            </p:extLst>
          </p:nvPr>
        </p:nvGraphicFramePr>
        <p:xfrm>
          <a:off x="762000" y="698500"/>
          <a:ext cx="10922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4672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2026-06-25T17:06:43Z</dcterms:created>
  <dcterms:modified xsi:type="dcterms:W3CDTF">2026-06-25T17:06:43Z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2026-06-25T17:06:43Z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7b30a74f-f3dc-418c-9578-1cda39f0d01e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