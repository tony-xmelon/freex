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102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Sales</c:v>
          </c:tx>
          <c:invertIfNegative val="0"/>
          <c:cat>
            <c:strLit>
              <c:ptCount val="4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</c:strLit>
          </c:cat>
          <c:val>
            <c:numLit>
              <c:formatCode>General</c:formatCode>
              <c:ptCount val="4"/>
              <c:pt idx="0">
                <c:v>120</c:v>
              </c:pt>
              <c:pt idx="1">
                <c:v>200</c:v>
              </c:pt>
              <c:pt idx="2">
                <c:v>150</c:v>
              </c:pt>
              <c:pt idx="3">
                <c:v>180</c:v>
              </c:pt>
            </c:numLit>
          </c:val>
          <c:extLst>
            <c:ext xmlns:c16="http://schemas.microsoft.com/office/drawing/2014/chart" uri="{C3380CC4-5D6E-409C-BE32-E72D297353CC}">
              <c16:uniqueId val="{00000003-B63B-4C4A-90D5-6CFB00ED50C6}"/>
            </c:ext>
          </c:extLst>
        </c:ser>
        <c:ser>
          <c:idx val="1"/>
          <c:order val="1"/>
          <c:tx>
            <c:v>Budget</c:v>
          </c:tx>
          <c:invertIfNegative val="0"/>
          <c:cat>
            <c:strLit>
              <c:ptCount val="4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</c:strLit>
          </c:cat>
          <c:val>
            <c:numLit>
              <c:formatCode>General</c:formatCode>
              <c:ptCount val="4"/>
              <c:pt idx="0">
                <c:v>130</c:v>
              </c:pt>
              <c:pt idx="1">
                <c:v>170</c:v>
              </c:pt>
              <c:pt idx="2">
                <c:v>160</c:v>
              </c:pt>
              <c:pt idx="3">
                <c:v>190</c:v>
              </c:pt>
            </c:numLit>
          </c:val>
          <c:extLst>
            <c:ext xmlns:c16="http://schemas.microsoft.com/office/drawing/2014/chart" uri="{C3380CC4-5D6E-409C-BE32-E72D297353CC}">
              <c16:uniqueId val="{00000004-B63B-4C4A-90D5-6CFB00ED50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491475167"/>
        <c:axId val="1491474687"/>
      </c:barChart>
      <c:catAx>
        <c:axId val="1491475167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1491474687"/>
        <c:crosses val="autoZero"/>
        <c:auto val="1"/>
        <c:lblAlgn val="ctr"/>
        <c:lblOffset val="100"/>
        <c:noMultiLvlLbl val="0"/>
      </c:catAx>
      <c:valAx>
        <c:axId val="1491474687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491475167"/>
        <c:crosses val="autoZero"/>
        <c:crossBetween val="between"/>
      </c:valAx>
    </c:plotArea>
    <c:legend>
      <c:legendPos val="r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v>2023</c:v>
          </c:tx>
          <c:val>
            <c:numRef>
              <c:f/>
              <c:numCache>
                <c:formatCode>General</c:formatCode>
                <c:ptCount val="4"/>
                <c:pt idx="0">
                  <c:v>80</c:v>
                </c:pt>
                <c:pt idx="1">
                  <c:v>100</c:v>
                </c:pt>
                <c:pt idx="2">
                  <c:v>60</c:v>
                </c:pt>
                <c:pt idx="3">
                  <c:v>90</c:v>
                </c:pt>
              </c:numCache>
            </c:numRef>
          </c:val>
          <c:smooth val="0"/>
          <c:extLs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/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3-0872-4BD8-A820-5C61F94EB65E}"/>
            </c:ext>
          </c:extLst>
          <c:cat>
            <c:strLit>
              <c:ptCount val="4"/>
              <c:pt idx="0">
                <c:v>North</c:v>
              </c:pt>
              <c:pt idx="1">
                <c:v>South</c:v>
              </c:pt>
              <c:pt idx="2">
                <c:v>East</c:v>
              </c:pt>
              <c:pt idx="3">
                <c:v>West</c:v>
              </c:pt>
            </c:strLit>
          </c:cat>
        </c:ser>
        <c:ser>
          <c:idx val="1"/>
          <c:order val="1"/>
          <c:tx>
            <c:v>2024</c:v>
          </c:tx>
          <c:val>
            <c:numRef>
              <c:f/>
              <c:numCache>
                <c:formatCode>General</c:formatCode>
                <c:ptCount val="4"/>
                <c:pt idx="0">
                  <c:v>90</c:v>
                </c:pt>
                <c:pt idx="1">
                  <c:v>110</c:v>
                </c:pt>
                <c:pt idx="2">
                  <c:v>70</c:v>
                </c:pt>
                <c:pt idx="3">
                  <c:v>100</c:v>
                </c:pt>
              </c:numCache>
            </c:numRef>
          </c:val>
          <c:smooth val="0"/>
          <c:extLs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/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0872-4BD8-A820-5C61F94EB65E}"/>
            </c:ext>
          </c:extLst>
          <c:cat>
            <c:strLit>
              <c:ptCount val="4"/>
              <c:pt idx="0">
                <c:v>North</c:v>
              </c:pt>
              <c:pt idx="1">
                <c:v>South</c:v>
              </c:pt>
              <c:pt idx="2">
                <c:v>East</c:v>
              </c:pt>
              <c:pt idx="3">
                <c:v>West</c:v>
              </c:pt>
            </c:strLit>
          </c:ca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501808511"/>
        <c:axId val="1501808991"/>
      </c:lineChart>
      <c:catAx>
        <c:axId val="15018085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1501808991"/>
        <c:crosses val="autoZero"/>
        <c:auto val="1"/>
        <c:lblAlgn val="ctr"/>
        <c:lblOffset val="100"/>
        <c:noMultiLvlLbl val="0"/>
      </c:catAx>
      <c:valAx>
        <c:axId val="1501808991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501808511"/>
        <c:crosses val="autoZero"/>
        <c:crossBetween val="between"/>
      </c:valAx>
    </c:plotArea>
    <c:legend>
      <c:legendPos val="r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tx>
            <c:v>Share</c:v>
          </c:tx>
          <c:val>
            <c:numRef>
              <c:f/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/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1-188D-406B-A45D-A093834E5E14}"/>
            </c:ext>
          </c:extLst>
          <c:cat>
            <c:strLit>
              <c:ptCount val="4"/>
              <c:pt idx="0">
                <c:v>Alpha</c:v>
              </c:pt>
              <c:pt idx="1">
                <c:v>Beta</c:v>
              </c:pt>
              <c:pt idx="2">
                <c:v>Gamma</c:v>
              </c:pt>
              <c:pt idx="3">
                <c:v>Delta</c:v>
              </c:pt>
            </c:strLit>
          </c:ca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Revenue</c:v>
          </c:tx>
          <c:invertIfNegative val="0"/>
          <c:val>
            <c:numRef>
              <c:f/>
              <c:numCache>
                <c:formatCode>General</c:formatCode>
                <c:ptCount val="6"/>
                <c:pt idx="0">
                  <c:v>50</c:v>
                </c:pt>
                <c:pt idx="1">
                  <c:v>80</c:v>
                </c:pt>
                <c:pt idx="2">
                  <c:v>65</c:v>
                </c:pt>
                <c:pt idx="3">
                  <c:v>90</c:v>
                </c:pt>
                <c:pt idx="4">
                  <c:v>75</c:v>
                </c:pt>
                <c:pt idx="5">
                  <c:v>110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/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3-5FF6-45C4-99FB-471F78B3DE1C}"/>
            </c:ext>
          </c:extLst>
          <c:cat>
            <c:strLit>
              <c:ptCount val="6"/>
              <c:pt idx="0">
                <c:v>Jan</c:v>
              </c:pt>
              <c:pt idx="1">
                <c:v>Feb</c:v>
              </c:pt>
              <c:pt idx="2">
                <c:v>Mar</c:v>
              </c:pt>
              <c:pt idx="3">
                <c:v>Apr</c:v>
              </c:pt>
              <c:pt idx="4">
                <c:v>May</c:v>
              </c:pt>
              <c:pt idx="5">
                <c:v>Jun</c:v>
              </c:pt>
            </c:strLit>
          </c:cat>
        </c:ser>
        <c:ser>
          <c:idx val="1"/>
          <c:order val="1"/>
          <c:tx>
            <c:v>Forecast</c:v>
          </c:tx>
          <c:invertIfNegative val="0"/>
          <c:val>
            <c:numRef>
              <c:f/>
              <c:numCache>
                <c:formatCode>General</c:formatCode>
                <c:ptCount val="6"/>
                <c:pt idx="0">
                  <c:v>55</c:v>
                </c:pt>
                <c:pt idx="1">
                  <c:v>75</c:v>
                </c:pt>
                <c:pt idx="2">
                  <c:v>70</c:v>
                </c:pt>
                <c:pt idx="3">
                  <c:v>85</c:v>
                </c:pt>
                <c:pt idx="4">
                  <c:v>80</c:v>
                </c:pt>
                <c:pt idx="5">
                  <c:v>105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/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5FF6-45C4-99FB-471F78B3DE1C}"/>
            </c:ext>
          </c:extLst>
          <c:cat>
            <c:strLit>
              <c:ptCount val="6"/>
              <c:pt idx="0">
                <c:v>Jan</c:v>
              </c:pt>
              <c:pt idx="1">
                <c:v>Feb</c:v>
              </c:pt>
              <c:pt idx="2">
                <c:v>Mar</c:v>
              </c:pt>
              <c:pt idx="3">
                <c:v>Apr</c:v>
              </c:pt>
              <c:pt idx="4">
                <c:v>May</c:v>
              </c:pt>
              <c:pt idx="5">
                <c:v>Jun</c:v>
              </c:pt>
            </c:strLit>
          </c:ca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375523295"/>
        <c:axId val="1375522815"/>
      </c:barChart>
      <c:catAx>
        <c:axId val="1375523295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crossAx val="1375522815"/>
        <c:crosses val="autoZero"/>
        <c:auto val="1"/>
        <c:lblAlgn val="ctr"/>
        <c:lblOffset val="100"/>
        <c:noMultiLvlLbl val="0"/>
      </c:catAx>
      <c:valAx>
        <c:axId val="1375522815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1375523295"/>
        <c:crosses val="autoZero"/>
        <c:crossBetween val="between"/>
      </c:valAx>
    </c:plotArea>
    <c:legend>
      <c:legendPos val="r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7CBCA-5EE1-34D9-52E0-F08F92F7A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74FC73-3C29-87A7-FD3F-69E99CAE83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2586D8-1888-010F-DE9F-E2E341645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E0194-E47C-45D2-BCFC-19F6E94C0411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330EE-472D-75C2-54B5-2FB075D88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D9C93-DF79-9B10-8ECD-8E1BE5A15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FFCCB-F03B-45DB-8D0E-85A43D36A6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053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DADF1-7024-0348-159B-A88344474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DA2A9-4FD8-EEA8-C39E-203D157C8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834657-308D-3AD4-5969-68E9C13EB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E0194-E47C-45D2-BCFC-19F6E94C0411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D0EAE9-89C3-E2DF-5CF3-E752448C8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03D184-E6B5-D935-2C04-A2B273FCB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FFCCB-F03B-45DB-8D0E-85A43D36A6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01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6BAE7-305C-C136-101B-AC811BA4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C2569E-B7B5-1AB1-5380-20C7CA2A88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D36E0-8847-A364-966A-701C49186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E0194-E47C-45D2-BCFC-19F6E94C0411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425BB-629A-1C56-1FF9-53A892672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2B547-51B6-F377-E0FD-AE5AADD97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FFCCB-F03B-45DB-8D0E-85A43D36A6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44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B936A-6065-FDBD-7F27-C7286D7C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4A304-32FC-A106-909F-373ABBDF72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EA2BE1-2901-78E3-ADCC-CEAE58F91B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E48F9F-ECE2-3F6F-3460-5F5478039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E0194-E47C-45D2-BCFC-19F6E94C0411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5019F4-6741-43DB-AFD3-16C2334A2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CCD37-36D6-DDD6-074A-271A7539F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FFCCB-F03B-45DB-8D0E-85A43D36A6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887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81ECF-43D0-DD1E-E2F3-071AD44EB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079F8-3250-7EE2-C6BA-2C0D2A737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7C69CE-93F4-D65D-A128-4029576F60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C7859A-0514-4614-6DB2-44F17A46F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CBA81-9A8C-566C-0ACE-9A2B2B57FA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9E3A5B-C97F-C3EF-AC1F-7BC7C4EB3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E0194-E47C-45D2-BCFC-19F6E94C0411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3F6066-9566-D51C-EEF6-84497211C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655120-7CA8-4E63-7393-34A722F51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FFCCB-F03B-45DB-8D0E-85A43D36A6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730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BFBC7-0AD7-7E5A-E44A-66F6480B4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B688A7-CA4A-437D-7D34-32FF7E769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E0194-E47C-45D2-BCFC-19F6E94C0411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06B2C-0E20-CB78-E75F-751FFE165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5224EC-CE4E-0444-DDB5-8A60F2467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FFCCB-F03B-45DB-8D0E-85A43D36A6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03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9E601C-0B58-D57E-0DE8-3405FC6FF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E0194-E47C-45D2-BCFC-19F6E94C0411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F8A94C-9D82-BDB2-7FBF-36FFFCAC6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CAC2A-0FAA-4B78-46E2-EF7AEFB52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FFCCB-F03B-45DB-8D0E-85A43D36A6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805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FE734-0263-F14E-4199-77C202D15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82053-A2D0-7D41-0F26-5D2AB1AB0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023EF0-DA4B-C0BF-44D5-A6970C699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D19802-BFA7-0F67-37AB-62AA3514B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E0194-E47C-45D2-BCFC-19F6E94C0411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373977-3667-56C9-AB74-C1676B379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EF2F7F-924B-095E-210D-D1278E17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FFCCB-F03B-45DB-8D0E-85A43D36A6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095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DBB09-45E3-DEA3-4AEB-4020831BB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6CF80E-6494-7302-8721-371C01304E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8355A3-B90F-2B35-2536-69D016FFDD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A19BC-D5AE-277A-76C3-EDC76D068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E0194-E47C-45D2-BCFC-19F6E94C0411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F1D6B9-CE85-0852-6240-F3787B5D8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CDCB4C-C397-AA68-1BE8-0A6FC886C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FFCCB-F03B-45DB-8D0E-85A43D36A6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283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1E3C1-7001-E48B-1F9A-D1A3974AC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3048AF-A90A-D3A0-0514-6C1F0B1B0D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9D70B-3604-E277-3F58-5A18E0FD5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E0194-E47C-45D2-BCFC-19F6E94C0411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BD22C-23D3-826B-A81A-1E46C68AC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E3AE2-8A84-5F55-52F3-82E86E84F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FFCCB-F03B-45DB-8D0E-85A43D36A6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226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0E171F-BF6A-5AA8-AAFD-6E275E148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8EE810-644A-C524-7FC2-4ABA0E1335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5E375-B37A-6790-7979-32727BDA1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E0194-E47C-45D2-BCFC-19F6E94C0411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16E22-212B-2168-CB14-94EAAEC76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12C41A-7512-5C3E-57ED-BD0B25DB1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FFCCB-F03B-45DB-8D0E-85A43D36A6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245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24A2AD-7A22-578C-790E-7A766A569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D576C7-7248-B0BD-0913-54E10962E3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1593F6-F640-A93B-BAB6-380E91C61D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0E0194-E47C-45D2-BCFC-19F6E94C0411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5361AC-1769-1487-B2C3-E57504F45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00BBE2-9DCB-0233-1E20-252FEDDD0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5FFCCB-F03B-45DB-8D0E-85A43D36A6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57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AFC25A-F28C-56C9-8BEF-0037A9DAAD1E}"/>
              </a:ext>
            </a:extLst>
          </p:cNvPr>
          <p:cNvSpPr txBox="1"/>
          <p:nvPr/>
        </p:nvSpPr>
        <p:spPr>
          <a:xfrm>
            <a:off x="254000" y="1270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Clustered Column Chart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7F9C0A52-5E04-AAC4-ED7A-724EE10915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26628516"/>
              </p:ext>
            </p:extLst>
          </p:nvPr>
        </p:nvGraphicFramePr>
        <p:xfrm>
          <a:off x="762000" y="698500"/>
          <a:ext cx="10922000" cy="584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574463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2DA05-7A48-0770-9FE9-211613E96919}"/>
              </a:ext>
            </a:extLst>
          </p:cNvPr>
          <p:cNvSpPr txBox="1"/>
          <p:nvPr/>
        </p:nvSpPr>
        <p:spPr>
          <a:xfrm>
            <a:off x="254000" y="1270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Line with Markers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BFD0380C-259C-47A8-1C23-7D5E9EC262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89700532"/>
              </p:ext>
            </p:extLst>
          </p:nvPr>
        </p:nvGraphicFramePr>
        <p:xfrm>
          <a:off x="762000" y="698500"/>
          <a:ext cx="10922000" cy="584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1319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DF4372-BFD5-3B11-8A78-F84CD518F800}"/>
              </a:ext>
            </a:extLst>
          </p:cNvPr>
          <p:cNvSpPr txBox="1"/>
          <p:nvPr/>
        </p:nvSpPr>
        <p:spPr>
          <a:xfrm>
            <a:off x="254000" y="1270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Pie Chart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BFA9227D-C079-7218-9EBE-B108C74872A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68957145"/>
              </p:ext>
            </p:extLst>
          </p:nvPr>
        </p:nvGraphicFramePr>
        <p:xfrm>
          <a:off x="762000" y="698500"/>
          <a:ext cx="10922000" cy="584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14428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0F8B17-FC52-E563-0047-2DBAC7660D3D}"/>
              </a:ext>
            </a:extLst>
          </p:cNvPr>
          <p:cNvSpPr txBox="1"/>
          <p:nvPr/>
        </p:nvSpPr>
        <p:spPr>
          <a:xfrm>
            <a:off x="254000" y="1270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Clustered Bar Chart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345FA83-AC0F-679E-E4ED-2D2AD5CF8D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84818101"/>
              </p:ext>
            </p:extLst>
          </p:nvPr>
        </p:nvGraphicFramePr>
        <p:xfrm>
          <a:off x="762000" y="698500"/>
          <a:ext cx="10922000" cy="584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186888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2026-06-25T23:16:03Z</dcterms:created>
  <dcterms:modified xsi:type="dcterms:W3CDTF">2026-06-25T23:16:03Z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2026-06-25T23:16:03Z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54f966e9-1551-40ae-9898-bbeef4f52b22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